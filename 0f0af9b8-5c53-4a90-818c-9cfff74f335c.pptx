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0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4994" autoAdjust="0"/>
    <p:restoredTop sz="99500" autoAdjust="0"/>
  </p:normalViewPr>
  <p:slideViewPr>
    <p:cSldViewPr snapToGrid="0">
      <p:cViewPr varScale="1">
        <p:scale>
          <a:sx n="56" d="100"/>
          <a:sy n="56" d="100"/>
        </p:scale>
        <p:origin x="0" y="0"/>
      </p:cViewPr>
      <p:guideLst/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828800" y="3886199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3771134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0065960"/>
      </p:ext>
    </p:extLst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defRPr sz="4000" b="1" cap="all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5559028"/>
      </p:ext>
    </p:extLst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sz="half"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5913130"/>
      </p:ext>
    </p:extLst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defRPr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body" sz="quarter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sz="quarter"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9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9439442"/>
      </p:ext>
    </p:extLst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8168021"/>
      </p:ext>
    </p:extLst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1831069"/>
      </p:ext>
    </p:extLst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1706123"/>
      </p:ext>
    </p:extLst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9843494"/>
      </p:ext>
    </p:extLst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9788342"/>
      </p:ext>
    </p:extLst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 orient="vert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140518"/>
      </p:ext>
    </p:extLst>
  </p:cSld>
  <p:clrMapOvr>
    <a:masterClrMapping xmlns:a="http://schemas.openxmlformats.org/drawingml/2006/main"/>
  </p:clrMapOvr>
</p:sldLayout>
</file>

<file path=ppt/slideLayouts/slideLayout12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 rot="0">
            <a:off x="838200" y="6356349"/>
            <a:ext cx="27432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l"/>
            <a:endParaRPr lang="zh-CN" altLang="en-US" sz="1200">
              <a:solidFill>
                <a:srgbClr val="898989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" name="文本框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 rot="0">
            <a:off x="4038600" y="6356349"/>
            <a:ext cx="41148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ctr"/>
            <a:endParaRPr lang="zh-CN" altLang="en-US" sz="1200">
              <a:solidFill>
                <a:srgbClr val="898989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" name="文本框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 rot="0">
            <a:off x="8610600" y="6356349"/>
            <a:ext cx="27432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&lt;#&gt;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8366668"/>
      </p:ext>
    </p:extLst>
  </p:cSld>
  <p:clrMapOvr>
    <a:masterClrMapping xmlns:a="http://schemas.openxmlformats.org/drawingml/2006/main"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 rot="0">
            <a:off x="838200" y="365124"/>
            <a:ext cx="10515600" cy="132556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 rot="0">
            <a:off x="838200" y="1825625"/>
            <a:ext cx="10515600" cy="435133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idx="2"/>
          </p:nvPr>
        </p:nvSpPr>
        <p:spPr>
          <a:xfrm rot="0">
            <a:off x="838200" y="6356349"/>
            <a:ext cx="27432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l"/>
            <a:fld id="{CAD2D6BD-DE1B-4B5F-8B41-2702339687B9}" type="datetime1">
              <a:rPr lang="en-US" altLang="zh-CN" sz="1200">
                <a:solidFill>
                  <a:srgbClr val="898989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8/19/2026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idx="3"/>
          </p:nvPr>
        </p:nvSpPr>
        <p:spPr>
          <a:xfrm rot="0">
            <a:off x="4038600" y="6356349"/>
            <a:ext cx="41148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idx="4"/>
          </p:nvPr>
        </p:nvSpPr>
        <p:spPr>
          <a:xfrm rot="0">
            <a:off x="8610600" y="6356349"/>
            <a:ext cx="27432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&lt;#&gt;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8358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l" defTabSz="914400" eaLnBrk="1" fontAlgn="auto" latinLnBrk="0" hangingPunct="1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Calibri Light" pitchFamily="0" charset="0"/>
          <a:ea typeface="等线 Light" pitchFamily="0" charset="0"/>
          <a:cs typeface="Calibri Light" pitchFamily="0" charset="0"/>
        </a:defRPr>
      </a:lvl1pPr>
    </p:titleStyle>
    <p:bodyStyle>
      <a:lvl1pPr marL="228600" indent="-228600" algn="l" defTabSz="914400" eaLnBrk="1" fontAlgn="auto" latinLnBrk="0" hangingPunct="1">
        <a:lnSpc>
          <a:spcPct val="90000"/>
        </a:lnSpc>
        <a:spcBef>
          <a:spcPts val="1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1pPr>
      <a:lvl2pPr marL="6858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2pPr>
      <a:lvl3pPr marL="11430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3pPr>
      <a:lvl4pPr marL="16002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4pPr>
      <a:lvl5pPr marL="20574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5pPr>
      <a:lvl6pPr marL="25146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6pPr>
      <a:lvl7pPr marL="29718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7pPr>
      <a:lvl8pPr marL="34290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8pPr>
      <a:lvl9pPr marL="34290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1.jpeg"/><Relationship Id="rId2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2.jpeg"/><Relationship Id="rId2" Type="http://schemas.openxmlformats.org/officeDocument/2006/relationships/image" Target="../media/2.jpeg"/><Relationship Id="rId3" Type="http://schemas.openxmlformats.org/officeDocument/2006/relationships/image" Target="../media/2.jpeg"/><Relationship Id="rId4" Type="http://schemas.openxmlformats.org/officeDocument/2006/relationships/image" Target="../media/2.jpeg"/><Relationship Id="rId5" Type="http://schemas.openxmlformats.org/officeDocument/2006/relationships/image" Target="../media/2.jpeg"/><Relationship Id="rId6" Type="http://schemas.openxmlformats.org/officeDocument/2006/relationships/image" Target="../media/2.jpeg"/><Relationship Id="rId7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3.jpeg"/><Relationship Id="rId2" Type="http://schemas.openxmlformats.org/officeDocument/2006/relationships/image" Target="../media/4.jpeg"/><Relationship Id="rId3" Type="http://schemas.openxmlformats.org/officeDocument/2006/relationships/image" Target="../media/4.jpeg"/><Relationship Id="rId4" Type="http://schemas.openxmlformats.org/officeDocument/2006/relationships/image" Target="../media/4.jpeg"/><Relationship Id="rId5" Type="http://schemas.openxmlformats.org/officeDocument/2006/relationships/image" Target="../media/4.jpeg"/><Relationship Id="rId6" Type="http://schemas.openxmlformats.org/officeDocument/2006/relationships/image" Target="../media/4.jpeg"/><Relationship Id="rId7" Type="http://schemas.openxmlformats.org/officeDocument/2006/relationships/image" Target="../media/4.jpeg"/><Relationship Id="rId8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3.jpeg"/><Relationship Id="rId2" Type="http://schemas.openxmlformats.org/officeDocument/2006/relationships/image" Target="../media/5.jpeg"/><Relationship Id="rId3" Type="http://schemas.openxmlformats.org/officeDocument/2006/relationships/image" Target="../media/5.jpeg"/><Relationship Id="rId4" Type="http://schemas.openxmlformats.org/officeDocument/2006/relationships/image" Target="../media/5.jpeg"/><Relationship Id="rId5" Type="http://schemas.openxmlformats.org/officeDocument/2006/relationships/image" Target="../media/5.jpeg"/><Relationship Id="rId6" Type="http://schemas.openxmlformats.org/officeDocument/2006/relationships/image" Target="../media/5.jpeg"/><Relationship Id="rId7" Type="http://schemas.openxmlformats.org/officeDocument/2006/relationships/image" Target="../media/5.jpeg"/><Relationship Id="rId8" Type="http://schemas.openxmlformats.org/officeDocument/2006/relationships/image" Target="../media/4.jpeg"/><Relationship Id="rId9" Type="http://schemas.openxmlformats.org/officeDocument/2006/relationships/image" Target="../media/4.jpeg"/><Relationship Id="rId10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3.jpeg"/><Relationship Id="rId2" Type="http://schemas.openxmlformats.org/officeDocument/2006/relationships/image" Target="../media/6.jpeg"/><Relationship Id="rId3" Type="http://schemas.openxmlformats.org/officeDocument/2006/relationships/image" Target="../media/6.jpeg"/><Relationship Id="rId4" Type="http://schemas.openxmlformats.org/officeDocument/2006/relationships/image" Target="../media/6.jpeg"/><Relationship Id="rId5" Type="http://schemas.openxmlformats.org/officeDocument/2006/relationships/image" Target="../media/4.jpeg"/><Relationship Id="rId6" Type="http://schemas.openxmlformats.org/officeDocument/2006/relationships/image" Target="../media/5.jpeg"/><Relationship Id="rId7" Type="http://schemas.openxmlformats.org/officeDocument/2006/relationships/image" Target="../media/5.jpeg"/><Relationship Id="rId8" Type="http://schemas.openxmlformats.org/officeDocument/2006/relationships/image" Target="../media/4.jpeg"/><Relationship Id="rId9" Type="http://schemas.openxmlformats.org/officeDocument/2006/relationships/image" Target="../media/6.jpeg"/><Relationship Id="rId10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3.jpeg"/><Relationship Id="rId2" Type="http://schemas.openxmlformats.org/officeDocument/2006/relationships/image" Target="../media/7.jpeg"/><Relationship Id="rId3" Type="http://schemas.openxmlformats.org/officeDocument/2006/relationships/image" Target="../media/7.jpeg"/><Relationship Id="rId4" Type="http://schemas.openxmlformats.org/officeDocument/2006/relationships/image" Target="../media/7.jpeg"/><Relationship Id="rId5" Type="http://schemas.openxmlformats.org/officeDocument/2006/relationships/image" Target="../media/7.jpeg"/><Relationship Id="rId6" Type="http://schemas.openxmlformats.org/officeDocument/2006/relationships/image" Target="../media/7.jpeg"/><Relationship Id="rId7" Type="http://schemas.openxmlformats.org/officeDocument/2006/relationships/image" Target="../media/7.jpeg"/><Relationship Id="rId8" Type="http://schemas.openxmlformats.org/officeDocument/2006/relationships/image" Target="../media/7.jpeg"/><Relationship Id="rId9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3.jpeg"/><Relationship Id="rId2" Type="http://schemas.openxmlformats.org/officeDocument/2006/relationships/image" Target="../media/8.jpeg"/><Relationship Id="rId3" Type="http://schemas.openxmlformats.org/officeDocument/2006/relationships/image" Target="../media/8.jpeg"/><Relationship Id="rId4" Type="http://schemas.openxmlformats.org/officeDocument/2006/relationships/image" Target="../media/8.jpeg"/><Relationship Id="rId5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3.jpeg"/><Relationship Id="rId2" Type="http://schemas.openxmlformats.org/officeDocument/2006/relationships/image" Target="../media/9.jpeg"/><Relationship Id="rId3" Type="http://schemas.openxmlformats.org/officeDocument/2006/relationships/image" Target="../media/9.jpeg"/><Relationship Id="rId4" Type="http://schemas.openxmlformats.org/officeDocument/2006/relationships/image" Target="../media/9.jpeg"/><Relationship Id="rId5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3.jpeg"/><Relationship Id="rId2" Type="http://schemas.openxmlformats.org/officeDocument/2006/relationships/image" Target="../media/10.jpeg"/><Relationship Id="rId3" Type="http://schemas.openxmlformats.org/officeDocument/2006/relationships/image" Target="../media/10.jpeg"/><Relationship Id="rId4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3.jpeg"/><Relationship Id="rId2" Type="http://schemas.openxmlformats.org/officeDocument/2006/relationships/image" Target="../media/11.jpeg"/><Relationship Id="rId3" Type="http://schemas.openxmlformats.org/officeDocument/2006/relationships/image" Target="../media/11.jpeg"/><Relationship Id="rId4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3.jpeg"/><Relationship Id="rId2" Type="http://schemas.openxmlformats.org/officeDocument/2006/relationships/slideLayout" Target="../slideLayouts/slideLayout12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" descr="blob:https://web.whatsapp.com/c0c092c3-83a0-4356-a3b8-09fbc07ab94e"/>
          <p:cNvSpPr>
            <a:spLocks noChangeAspect="1"/>
          </p:cNvSpPr>
          <p:nvPr/>
        </p:nvSpPr>
        <p:spPr>
          <a:xfrm rot="0">
            <a:off x="5943599" y="3276600"/>
            <a:ext cx="304800" cy="304800"/>
          </a:xfrm>
          <a:prstGeom prst="rect"/>
          <a:noFill/>
          <a:ln w="12700" cmpd="sng" cap="flat">
            <a:noFill/>
            <a:prstDash val="solid"/>
            <a:miter/>
          </a:ln>
        </p:spPr>
      </p:sp>
      <p:pic>
        <p:nvPicPr>
          <p:cNvPr id="11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0"/>
            <a:ext cx="12192000" cy="685800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636098966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"/>
          <p:cNvPicPr>
            <a:picLocks noChangeAspect="1"/>
          </p:cNvPicPr>
          <p:nvPr/>
        </p:nvPicPr>
        <p:blipFill>
          <a:blip r:embed="rId1" cstate="print"/>
          <a:srcRect t="14722" r="48982"/>
          <a:stretch>
            <a:fillRect/>
          </a:stretch>
        </p:blipFill>
        <p:spPr>
          <a:xfrm rot="0">
            <a:off x="0" y="1125152"/>
            <a:ext cx="5248274" cy="5848350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13" name="图片"/>
          <p:cNvPicPr>
            <a:picLocks noChangeAspect="1"/>
          </p:cNvPicPr>
          <p:nvPr/>
        </p:nvPicPr>
        <p:blipFill>
          <a:blip r:embed="rId2" cstate="print"/>
          <a:srcRect b="85278" l="10109"/>
          <a:stretch>
            <a:fillRect/>
          </a:stretch>
        </p:blipFill>
        <p:spPr>
          <a:xfrm rot="0">
            <a:off x="1549666" y="0"/>
            <a:ext cx="9247071" cy="1009650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14" name="图片"/>
          <p:cNvPicPr>
            <a:picLocks noChangeAspect="1"/>
          </p:cNvPicPr>
          <p:nvPr/>
        </p:nvPicPr>
        <p:blipFill>
          <a:blip r:embed="rId3" cstate="print"/>
          <a:srcRect t="15985" b="70948" l="52495" r="37774"/>
          <a:stretch>
            <a:fillRect/>
          </a:stretch>
        </p:blipFill>
        <p:spPr>
          <a:xfrm rot="0">
            <a:off x="5672687" y="1253533"/>
            <a:ext cx="1001027" cy="896152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5" name="矩形"/>
          <p:cNvSpPr>
            <a:spLocks/>
          </p:cNvSpPr>
          <p:nvPr/>
        </p:nvSpPr>
        <p:spPr>
          <a:xfrm rot="0">
            <a:off x="6602931" y="1193534"/>
            <a:ext cx="4822256" cy="51587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  </a:t>
            </a:r>
            <a:r>
              <a:rPr lang="en-US" altLang="zh-CN" sz="1800" b="0" i="0" u="none" strike="noStrike" kern="1200" cap="none" spc="0" baseline="0">
                <a:solidFill>
                  <a:srgbClr val="2F5497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Swiggy</a:t>
            </a:r>
            <a:r>
              <a:rPr lang="en-US" altLang="zh-CN" sz="1800" b="0" i="0" u="none" strike="noStrike" kern="1200" cap="none" spc="0" baseline="0">
                <a:solidFill>
                  <a:srgbClr val="2F5497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 An online food delivery platform that helps users discover restaurants and order food easily.</a:t>
            </a:r>
            <a:endParaRPr lang="en-US" altLang="zh-CN" sz="1800" b="0" i="0" u="none" strike="noStrike" kern="1200" cap="none" spc="0" baseline="0">
              <a:solidFill>
                <a:srgbClr val="2F5497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rgbClr val="2F5497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0" i="0" u="none" strike="noStrike" kern="1200" cap="none" spc="0" baseline="0">
                <a:solidFill>
                  <a:srgbClr val="2F5497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🍔 Food Ordering Users can browse menus, select dishes and place food orders through the app.</a:t>
            </a:r>
            <a:endParaRPr lang="en-US" altLang="zh-CN" sz="1800" b="0" i="0" u="none" strike="noStrike" kern="1200" cap="none" spc="0" baseline="0">
              <a:solidFill>
                <a:srgbClr val="2F5497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rgbClr val="2F5497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0" i="0" u="none" strike="noStrike" kern="1200" cap="none" spc="0" baseline="0">
                <a:solidFill>
                  <a:srgbClr val="2F5497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🚚 Food Delivery Orders are delivered from restaurants directly to customers.</a:t>
            </a:r>
            <a:endParaRPr lang="en-US" altLang="zh-CN" sz="1800" b="0" i="0" u="none" strike="noStrike" kern="1200" cap="none" spc="0" baseline="0">
              <a:solidFill>
                <a:srgbClr val="2F5497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rgbClr val="2F5497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0" i="0" u="none" strike="noStrike" kern="1200" cap="none" spc="0" baseline="0">
                <a:solidFill>
                  <a:srgbClr val="2F5497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👥 Group Ordering The proposed feature will make ordering food with friends and family easier.</a:t>
            </a:r>
            <a:endParaRPr lang="en-US" altLang="zh-CN" sz="1800" b="0" i="0" u="none" strike="noStrike" kern="1200" cap="none" spc="0" baseline="0">
              <a:solidFill>
                <a:srgbClr val="2F5497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rgbClr val="2F5497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0" i="0" u="none" strike="noStrike" kern="1200" cap="none" spc="0" baseline="0">
                <a:solidFill>
                  <a:srgbClr val="2F5497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💡 Feature Focus</a:t>
            </a:r>
            <a:endParaRPr lang="en-US" altLang="zh-CN" sz="1800" b="0" i="0" u="none" strike="noStrike" kern="1200" cap="none" spc="0" baseline="0">
              <a:solidFill>
                <a:srgbClr val="2F5497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2F5497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Group Order &amp; Split Payment – Users can order together and share the bill easily.</a:t>
            </a:r>
            <a:endParaRPr lang="en-US" altLang="zh-CN" sz="1800" b="0" i="0" u="none" strike="noStrike" kern="1200" cap="none" spc="0" baseline="0">
              <a:solidFill>
                <a:srgbClr val="2F5497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" name="矩形"/>
          <p:cNvSpPr>
            <a:spLocks/>
          </p:cNvSpPr>
          <p:nvPr/>
        </p:nvSpPr>
        <p:spPr>
          <a:xfrm rot="0">
            <a:off x="3048000" y="3105835"/>
            <a:ext cx="6096000" cy="3581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 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pic>
        <p:nvPicPr>
          <p:cNvPr id="17" name="图片"/>
          <p:cNvPicPr>
            <a:picLocks noChangeAspect="1"/>
          </p:cNvPicPr>
          <p:nvPr/>
        </p:nvPicPr>
        <p:blipFill>
          <a:blip r:embed="rId4" cstate="print"/>
          <a:srcRect t="27358" b="57088" l="52058" r="38483"/>
          <a:stretch>
            <a:fillRect/>
          </a:stretch>
        </p:blipFill>
        <p:spPr>
          <a:xfrm rot="0">
            <a:off x="5598695" y="2110303"/>
            <a:ext cx="973051" cy="1066666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18" name="图片"/>
          <p:cNvPicPr>
            <a:picLocks noChangeAspect="1"/>
          </p:cNvPicPr>
          <p:nvPr/>
        </p:nvPicPr>
        <p:blipFill>
          <a:blip r:embed="rId5" cstate="print"/>
          <a:srcRect t="41544" b="42903" l="51372" r="37961"/>
          <a:stretch>
            <a:fillRect/>
          </a:stretch>
        </p:blipFill>
        <p:spPr>
          <a:xfrm rot="0">
            <a:off x="5485245" y="3241451"/>
            <a:ext cx="1097280" cy="1066666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19" name="图片"/>
          <p:cNvPicPr>
            <a:picLocks noChangeAspect="1"/>
          </p:cNvPicPr>
          <p:nvPr/>
        </p:nvPicPr>
        <p:blipFill>
          <a:blip r:embed="rId6" cstate="print"/>
          <a:srcRect t="56059" b="28387" l="51279" r="38054"/>
          <a:stretch>
            <a:fillRect/>
          </a:stretch>
        </p:blipFill>
        <p:spPr>
          <a:xfrm rot="0">
            <a:off x="5485244" y="4180475"/>
            <a:ext cx="1097282" cy="1066667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820601247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0"/>
            <a:ext cx="12192000" cy="6858000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21" name="图片"/>
          <p:cNvPicPr>
            <a:picLocks noChangeAspect="1"/>
          </p:cNvPicPr>
          <p:nvPr/>
        </p:nvPicPr>
        <p:blipFill>
          <a:blip r:embed="rId2" cstate="print"/>
          <a:srcRect t="11929" b="12141" l="1030" r="40486"/>
          <a:stretch>
            <a:fillRect/>
          </a:stretch>
        </p:blipFill>
        <p:spPr>
          <a:xfrm rot="0">
            <a:off x="0" y="924024"/>
            <a:ext cx="6016191" cy="5207269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22" name="图片"/>
          <p:cNvPicPr>
            <a:picLocks noChangeAspect="1"/>
          </p:cNvPicPr>
          <p:nvPr/>
        </p:nvPicPr>
        <p:blipFill>
          <a:blip r:embed="rId3" cstate="print"/>
          <a:srcRect b="86526" l="11420" r="10826"/>
          <a:stretch>
            <a:fillRect/>
          </a:stretch>
        </p:blipFill>
        <p:spPr>
          <a:xfrm rot="0">
            <a:off x="0" y="-53425"/>
            <a:ext cx="10403809" cy="1055939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23" name="图片"/>
          <p:cNvPicPr>
            <a:picLocks noChangeAspect="1"/>
          </p:cNvPicPr>
          <p:nvPr/>
        </p:nvPicPr>
        <p:blipFill>
          <a:blip r:embed="rId4" cstate="print"/>
          <a:srcRect t="75228" b="11298" l="57535" r="33547"/>
          <a:stretch>
            <a:fillRect/>
          </a:stretch>
        </p:blipFill>
        <p:spPr>
          <a:xfrm rot="0">
            <a:off x="6516202" y="4283244"/>
            <a:ext cx="933652" cy="924024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24" name="图片"/>
          <p:cNvPicPr>
            <a:picLocks noChangeAspect="1"/>
          </p:cNvPicPr>
          <p:nvPr/>
        </p:nvPicPr>
        <p:blipFill>
          <a:blip r:embed="rId5" cstate="print"/>
          <a:srcRect t="64140" b="20982" l="57829" r="33095"/>
          <a:stretch>
            <a:fillRect/>
          </a:stretch>
        </p:blipFill>
        <p:spPr>
          <a:xfrm rot="0">
            <a:off x="6655668" y="3316989"/>
            <a:ext cx="794184" cy="1020278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25" name="图片"/>
          <p:cNvPicPr>
            <a:picLocks noChangeAspect="1"/>
          </p:cNvPicPr>
          <p:nvPr/>
        </p:nvPicPr>
        <p:blipFill>
          <a:blip r:embed="rId6" cstate="print"/>
          <a:srcRect t="52213" b="34314" l="56892" r="33284"/>
          <a:stretch>
            <a:fillRect/>
          </a:stretch>
        </p:blipFill>
        <p:spPr>
          <a:xfrm rot="0">
            <a:off x="6516202" y="2241195"/>
            <a:ext cx="1010653" cy="924024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26" name="图片"/>
          <p:cNvPicPr>
            <a:picLocks noChangeAspect="1"/>
          </p:cNvPicPr>
          <p:nvPr/>
        </p:nvPicPr>
        <p:blipFill>
          <a:blip r:embed="rId7" cstate="print"/>
          <a:srcRect t="39578" b="45545" l="57922" r="33283"/>
          <a:stretch>
            <a:fillRect/>
          </a:stretch>
        </p:blipFill>
        <p:spPr>
          <a:xfrm rot="0">
            <a:off x="6655365" y="1154285"/>
            <a:ext cx="904776" cy="1020277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27" name="矩形"/>
          <p:cNvSpPr>
            <a:spLocks/>
          </p:cNvSpPr>
          <p:nvPr/>
        </p:nvSpPr>
        <p:spPr>
          <a:xfrm rot="0">
            <a:off x="7526856" y="1174282"/>
            <a:ext cx="4446971" cy="51587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0" i="0" u="none" strike="noStrike" kern="1200" cap="none" spc="0" baseline="0">
                <a:solidFill>
                  <a:srgbClr val="0D0D0D"/>
                </a:solidFill>
                <a:latin typeface="Bahnschrift Condensed" pitchFamily="34" charset="0"/>
                <a:ea typeface="等线" pitchFamily="0" charset="0"/>
                <a:cs typeface="Calibri" pitchFamily="0" charset="0"/>
              </a:rPr>
              <a:t>👥 Order Together</a:t>
            </a:r>
            <a:endParaRPr lang="en-US" altLang="zh-CN" sz="1800" b="0" i="0" u="none" strike="noStrike" kern="1200" cap="none" spc="0" baseline="0">
              <a:solidFill>
                <a:srgbClr val="0D0D0D"/>
              </a:solidFill>
              <a:latin typeface="Bahnschrift Condensed" pitchFamily="34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0D0D0D"/>
                </a:solidFill>
                <a:latin typeface="Bahnschrift Condensed" pitchFamily="34" charset="0"/>
                <a:ea typeface="等线" pitchFamily="0" charset="0"/>
                <a:cs typeface="Calibri" pitchFamily="0" charset="0"/>
              </a:rPr>
              <a:t>Create a group and invite friends or family to add their food items.</a:t>
            </a:r>
            <a:endParaRPr lang="en-US" altLang="zh-CN" sz="1800" b="0" i="0" u="none" strike="noStrike" kern="1200" cap="none" spc="0" baseline="0">
              <a:solidFill>
                <a:srgbClr val="0D0D0D"/>
              </a:solidFill>
              <a:latin typeface="Bahnschrift Condensed" pitchFamily="34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0D0D0D"/>
                </a:solidFill>
                <a:latin typeface="Bahnschrift Condensed" pitchFamily="34" charset="0"/>
                <a:ea typeface="等线" pitchFamily="0" charset="0"/>
                <a:cs typeface="Calibri" pitchFamily="0" charset="0"/>
              </a:rPr>
              <a:t>--------------------------------------------------</a:t>
            </a:r>
            <a:endParaRPr lang="en-US" altLang="zh-CN" sz="1800" b="0" i="0" u="none" strike="noStrike" kern="1200" cap="none" spc="0" baseline="0">
              <a:solidFill>
                <a:srgbClr val="0D0D0D"/>
              </a:solidFill>
              <a:latin typeface="Bahnschrift Condensed" pitchFamily="34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0" i="0" u="none" strike="noStrike" kern="1200" cap="none" spc="0" baseline="0">
                <a:solidFill>
                  <a:srgbClr val="0D0D0D"/>
                </a:solidFill>
                <a:latin typeface="Bahnschrift Condensed" pitchFamily="34" charset="0"/>
                <a:ea typeface="等线" pitchFamily="0" charset="0"/>
                <a:cs typeface="Calibri" pitchFamily="0" charset="0"/>
              </a:rPr>
              <a:t>💰 Split Payment</a:t>
            </a:r>
            <a:endParaRPr lang="en-US" altLang="zh-CN" sz="1800" b="0" i="0" u="none" strike="noStrike" kern="1200" cap="none" spc="0" baseline="0">
              <a:solidFill>
                <a:srgbClr val="0D0D0D"/>
              </a:solidFill>
              <a:latin typeface="Bahnschrift Condensed" pitchFamily="34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0D0D0D"/>
                </a:solidFill>
                <a:latin typeface="Bahnschrift Condensed" pitchFamily="34" charset="0"/>
                <a:ea typeface="等线" pitchFamily="0" charset="0"/>
                <a:cs typeface="Calibri" pitchFamily="0" charset="0"/>
              </a:rPr>
              <a:t>The total bill can be divided among all group members easily.</a:t>
            </a:r>
            <a:endParaRPr lang="en-US" altLang="zh-CN" sz="1800" b="0" i="0" u="none" strike="noStrike" kern="1200" cap="none" spc="0" baseline="0">
              <a:solidFill>
                <a:srgbClr val="0D0D0D"/>
              </a:solidFill>
              <a:latin typeface="Bahnschrift Condensed" pitchFamily="34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0D0D0D"/>
                </a:solidFill>
                <a:latin typeface="Bahnschrift Condensed" pitchFamily="34" charset="0"/>
                <a:ea typeface="等线" pitchFamily="0" charset="0"/>
                <a:cs typeface="Calibri" pitchFamily="0" charset="0"/>
              </a:rPr>
              <a:t>----------------------------------------------------</a:t>
            </a:r>
            <a:endParaRPr lang="en-US" altLang="zh-CN" sz="1800" b="0" i="0" u="none" strike="noStrike" kern="1200" cap="none" spc="0" baseline="0">
              <a:solidFill>
                <a:srgbClr val="0D0D0D"/>
              </a:solidFill>
              <a:latin typeface="Bahnschrift Condensed" pitchFamily="34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0" i="0" u="none" strike="noStrike" kern="1200" cap="none" spc="0" baseline="0">
                <a:solidFill>
                  <a:srgbClr val="0D0D0D"/>
                </a:solidFill>
                <a:latin typeface="Bahnschrift Condensed" pitchFamily="34" charset="0"/>
                <a:ea typeface="等线" pitchFamily="0" charset="0"/>
                <a:cs typeface="Calibri" pitchFamily="0" charset="0"/>
              </a:rPr>
              <a:t>👁️ Transparency</a:t>
            </a:r>
            <a:endParaRPr lang="en-US" altLang="zh-CN" sz="1800" b="0" i="0" u="none" strike="noStrike" kern="1200" cap="none" spc="0" baseline="0">
              <a:solidFill>
                <a:srgbClr val="0D0D0D"/>
              </a:solidFill>
              <a:latin typeface="Bahnschrift Condensed" pitchFamily="34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0D0D0D"/>
                </a:solidFill>
                <a:latin typeface="Bahnschrift Condensed" pitchFamily="34" charset="0"/>
                <a:ea typeface="等线" pitchFamily="0" charset="0"/>
                <a:cs typeface="Calibri" pitchFamily="0" charset="0"/>
              </a:rPr>
              <a:t>Each member can see the items ordered and their share of the bill.</a:t>
            </a:r>
            <a:endParaRPr lang="en-US" altLang="zh-CN" sz="1800" b="0" i="0" u="none" strike="noStrike" kern="1200" cap="none" spc="0" baseline="0">
              <a:solidFill>
                <a:srgbClr val="0D0D0D"/>
              </a:solidFill>
              <a:latin typeface="Bahnschrift Condensed" pitchFamily="34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0D0D0D"/>
                </a:solidFill>
                <a:latin typeface="Bahnschrift Condensed" pitchFamily="34" charset="0"/>
                <a:ea typeface="等线" pitchFamily="0" charset="0"/>
                <a:cs typeface="Calibri" pitchFamily="0" charset="0"/>
              </a:rPr>
              <a:t>--------------------------------------------------</a:t>
            </a:r>
            <a:endParaRPr lang="en-US" altLang="zh-CN" sz="1800" b="0" i="0" u="none" strike="noStrike" kern="1200" cap="none" spc="0" baseline="0">
              <a:solidFill>
                <a:srgbClr val="0D0D0D"/>
              </a:solidFill>
              <a:latin typeface="Bahnschrift Condensed" pitchFamily="34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0D0D0D"/>
                </a:solidFill>
                <a:latin typeface="Bahnschrift Condensed" pitchFamily="34" charset="0"/>
                <a:ea typeface="等线" pitchFamily="0" charset="0"/>
                <a:cs typeface="Calibri" pitchFamily="0" charset="0"/>
              </a:rPr>
              <a:t>⏱️ Convenience</a:t>
            </a:r>
            <a:endParaRPr lang="en-US" altLang="zh-CN" sz="1800" b="0" i="0" u="none" strike="noStrike" kern="1200" cap="none" spc="0" baseline="0">
              <a:solidFill>
                <a:srgbClr val="0D0D0D"/>
              </a:solidFill>
              <a:latin typeface="Bahnschrift Condensed" pitchFamily="34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0D0D0D"/>
                </a:solidFill>
                <a:latin typeface="Bahnschrift Condensed" pitchFamily="34" charset="0"/>
                <a:ea typeface="等线" pitchFamily="0" charset="0"/>
                <a:cs typeface="Calibri" pitchFamily="0" charset="0"/>
              </a:rPr>
              <a:t>Saves time and avoids the hassle of collecting money from everyone.</a:t>
            </a:r>
            <a:endParaRPr lang="en-US" altLang="zh-CN" sz="1800" b="0" i="0" u="none" strike="noStrike" kern="1200" cap="none" spc="0" baseline="0">
              <a:solidFill>
                <a:srgbClr val="0D0D0D"/>
              </a:solidFill>
              <a:latin typeface="Bahnschrift Condensed" pitchFamily="34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----------------------------------------------------------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0" i="0" u="none" strike="noStrike" kern="1200" cap="none" spc="0" baseline="0">
                <a:solidFill>
                  <a:schemeClr val="tx1"/>
                </a:solidFill>
                <a:latin typeface="Bahnschrift Condensed" pitchFamily="34" charset="0"/>
                <a:ea typeface="等线" pitchFamily="0" charset="0"/>
                <a:cs typeface="Calibri" pitchFamily="0" charset="0"/>
              </a:rPr>
              <a:t>🎯 Main Goal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Bahnschrift Condensed" pitchFamily="34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Bahnschrift Condensed" pitchFamily="34" charset="0"/>
                <a:ea typeface="等线" pitchFamily="0" charset="0"/>
                <a:cs typeface="Calibri" pitchFamily="0" charset="0"/>
              </a:rPr>
              <a:t>Make group food ordering easy, quick and 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Bahnschrift Condensed" pitchFamily="34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Bahnschrift Condensed" pitchFamily="34" charset="0"/>
                <a:ea typeface="等线" pitchFamily="0" charset="0"/>
                <a:cs typeface="Calibri" pitchFamily="0" charset="0"/>
              </a:rPr>
              <a:t>convenient.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Bahnschrift Condensed" pitchFamily="34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0176186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0"/>
            <a:ext cx="12192000" cy="6858000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29" name="图片"/>
          <p:cNvPicPr>
            <a:picLocks noChangeAspect="1"/>
          </p:cNvPicPr>
          <p:nvPr/>
        </p:nvPicPr>
        <p:blipFill>
          <a:blip r:embed="rId2" cstate="print"/>
          <a:srcRect t="15018" b="15088" l="44261"/>
          <a:stretch>
            <a:fillRect/>
          </a:stretch>
        </p:blipFill>
        <p:spPr>
          <a:xfrm rot="0">
            <a:off x="6458151" y="1106905"/>
            <a:ext cx="5733849" cy="4793382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30" name="图片"/>
          <p:cNvPicPr>
            <a:picLocks noChangeAspect="1"/>
          </p:cNvPicPr>
          <p:nvPr/>
        </p:nvPicPr>
        <p:blipFill>
          <a:blip r:embed="rId3" cstate="print"/>
          <a:srcRect t="1123" b="83859" l="9174" r="9329"/>
          <a:stretch>
            <a:fillRect/>
          </a:stretch>
        </p:blipFill>
        <p:spPr>
          <a:xfrm rot="0">
            <a:off x="0" y="0"/>
            <a:ext cx="10279782" cy="1087855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31" name="图片"/>
          <p:cNvPicPr>
            <a:picLocks noChangeAspect="1"/>
          </p:cNvPicPr>
          <p:nvPr/>
        </p:nvPicPr>
        <p:blipFill>
          <a:blip r:embed="rId4" cstate="print"/>
          <a:srcRect t="84632" b="2597" l="5056" r="7365"/>
          <a:stretch>
            <a:fillRect/>
          </a:stretch>
        </p:blipFill>
        <p:spPr>
          <a:xfrm rot="0">
            <a:off x="250256" y="5900286"/>
            <a:ext cx="11492564" cy="875897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32" name="图片"/>
          <p:cNvPicPr>
            <a:picLocks noChangeAspect="1"/>
          </p:cNvPicPr>
          <p:nvPr/>
        </p:nvPicPr>
        <p:blipFill>
          <a:blip r:embed="rId5" cstate="print"/>
          <a:srcRect t="16139" b="67719" l="2940" r="84428"/>
          <a:stretch>
            <a:fillRect/>
          </a:stretch>
        </p:blipFill>
        <p:spPr>
          <a:xfrm rot="0">
            <a:off x="456245" y="1049104"/>
            <a:ext cx="1299410" cy="1106906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33" name="图片"/>
          <p:cNvPicPr>
            <a:picLocks noChangeAspect="1"/>
          </p:cNvPicPr>
          <p:nvPr/>
        </p:nvPicPr>
        <p:blipFill>
          <a:blip r:embed="rId6" cstate="print"/>
          <a:srcRect t="30105" b="54877" l="3654" r="84744"/>
          <a:stretch>
            <a:fillRect/>
          </a:stretch>
        </p:blipFill>
        <p:spPr>
          <a:xfrm rot="0">
            <a:off x="497002" y="1943808"/>
            <a:ext cx="1193533" cy="1029902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34" name="图片"/>
          <p:cNvPicPr>
            <a:picLocks noChangeAspect="1"/>
          </p:cNvPicPr>
          <p:nvPr/>
        </p:nvPicPr>
        <p:blipFill>
          <a:blip r:embed="rId7" cstate="print"/>
          <a:srcRect t="43790" b="41192" l="3466" r="84931"/>
          <a:stretch>
            <a:fillRect/>
          </a:stretch>
        </p:blipFill>
        <p:spPr>
          <a:xfrm rot="0">
            <a:off x="497002" y="3003580"/>
            <a:ext cx="1193533" cy="1029901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35" name="图片"/>
          <p:cNvPicPr>
            <a:picLocks noChangeAspect="1"/>
          </p:cNvPicPr>
          <p:nvPr/>
        </p:nvPicPr>
        <p:blipFill>
          <a:blip r:embed="rId8" cstate="print"/>
          <a:srcRect t="39578" b="45545" l="57922" r="33283"/>
          <a:stretch>
            <a:fillRect/>
          </a:stretch>
        </p:blipFill>
        <p:spPr>
          <a:xfrm rot="0">
            <a:off x="734725" y="3999248"/>
            <a:ext cx="904777" cy="1020278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36" name="图片"/>
          <p:cNvPicPr>
            <a:picLocks noChangeAspect="1"/>
          </p:cNvPicPr>
          <p:nvPr/>
        </p:nvPicPr>
        <p:blipFill>
          <a:blip r:embed="rId9" cstate="print"/>
          <a:srcRect t="75228" b="11298" l="57535" r="33547"/>
          <a:stretch>
            <a:fillRect/>
          </a:stretch>
        </p:blipFill>
        <p:spPr>
          <a:xfrm rot="0">
            <a:off x="720288" y="5019526"/>
            <a:ext cx="933652" cy="924023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37" name="矩形"/>
          <p:cNvSpPr>
            <a:spLocks/>
          </p:cNvSpPr>
          <p:nvPr/>
        </p:nvSpPr>
        <p:spPr>
          <a:xfrm rot="0">
            <a:off x="1820778" y="1106905"/>
            <a:ext cx="4834691" cy="51587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1" i="0" u="none" strike="noStrike" kern="1200" cap="none" spc="0" baseline="0">
                <a:solidFill>
                  <a:srgbClr val="2F5497"/>
                </a:solidFill>
                <a:latin typeface="Bahnschrift Light Condensed" pitchFamily="34" charset="0"/>
                <a:ea typeface="等线" pitchFamily="0" charset="0"/>
                <a:cs typeface="Calibri" pitchFamily="0" charset="0"/>
              </a:rPr>
              <a:t>😕 Current Problem</a:t>
            </a:r>
            <a:endParaRPr lang="en-US" altLang="zh-CN" sz="1800" b="1" i="0" u="none" strike="noStrike" kern="1200" cap="none" spc="0" baseline="0">
              <a:solidFill>
                <a:srgbClr val="2F5497"/>
              </a:solidFill>
              <a:latin typeface="Bahnschrift Light Condensed" pitchFamily="34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2F5497"/>
                </a:solidFill>
                <a:latin typeface="Bahnschrift Light Condensed" pitchFamily="34" charset="0"/>
                <a:ea typeface="等线" pitchFamily="0" charset="0"/>
                <a:cs typeface="Calibri" pitchFamily="0" charset="0"/>
              </a:rPr>
              <a:t>Ordering food with a group can be difficult and time-consuming.</a:t>
            </a:r>
            <a:endParaRPr lang="en-US" altLang="zh-CN" sz="1800" b="1" i="0" u="none" strike="noStrike" kern="1200" cap="none" spc="0" baseline="0">
              <a:solidFill>
                <a:srgbClr val="2F5497"/>
              </a:solidFill>
              <a:latin typeface="Bahnschrift Light Condensed" pitchFamily="34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2F5497"/>
                </a:solidFill>
                <a:latin typeface="Bahnschrift Light Condensed" pitchFamily="34" charset="0"/>
                <a:ea typeface="等线" pitchFamily="0" charset="0"/>
                <a:cs typeface="Calibri" pitchFamily="0" charset="0"/>
              </a:rPr>
              <a:t>--------------------------------------------------------</a:t>
            </a:r>
            <a:endParaRPr lang="en-US" altLang="zh-CN" sz="1800" b="1" i="0" u="none" strike="noStrike" kern="1200" cap="none" spc="0" baseline="0">
              <a:solidFill>
                <a:srgbClr val="2F5497"/>
              </a:solidFill>
              <a:latin typeface="Bahnschrift Light Condensed" pitchFamily="34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1" i="0" u="none" strike="noStrike" kern="1200" cap="none" spc="0" baseline="0">
                <a:solidFill>
                  <a:srgbClr val="2F5497"/>
                </a:solidFill>
                <a:latin typeface="Bahnschrift Light Condensed" pitchFamily="34" charset="0"/>
                <a:ea typeface="等线" pitchFamily="0" charset="0"/>
                <a:cs typeface="Calibri" pitchFamily="0" charset="0"/>
              </a:rPr>
              <a:t>🍔 Different Choices</a:t>
            </a:r>
            <a:endParaRPr lang="en-US" altLang="zh-CN" sz="1800" b="1" i="0" u="none" strike="noStrike" kern="1200" cap="none" spc="0" baseline="0">
              <a:solidFill>
                <a:srgbClr val="2F5497"/>
              </a:solidFill>
              <a:latin typeface="Bahnschrift Light Condensed" pitchFamily="34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2F5497"/>
                </a:solidFill>
                <a:latin typeface="Bahnschrift Light Condensed" pitchFamily="34" charset="0"/>
                <a:ea typeface="等线" pitchFamily="0" charset="0"/>
                <a:cs typeface="Calibri" pitchFamily="0" charset="0"/>
              </a:rPr>
              <a:t>Everyone may want to order different food items.</a:t>
            </a:r>
            <a:endParaRPr lang="en-US" altLang="zh-CN" sz="1800" b="1" i="0" u="none" strike="noStrike" kern="1200" cap="none" spc="0" baseline="0">
              <a:solidFill>
                <a:srgbClr val="2F5497"/>
              </a:solidFill>
              <a:latin typeface="Bahnschrift Light Condensed" pitchFamily="34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2F5497"/>
                </a:solidFill>
                <a:latin typeface="Bahnschrift Light Condensed" pitchFamily="34" charset="0"/>
                <a:ea typeface="等线" pitchFamily="0" charset="0"/>
                <a:cs typeface="Calibri" pitchFamily="0" charset="0"/>
              </a:rPr>
              <a:t>-------------------------------------------------------</a:t>
            </a:r>
            <a:endParaRPr lang="en-US" altLang="zh-CN" sz="1800" b="1" i="0" u="none" strike="noStrike" kern="1200" cap="none" spc="0" baseline="0">
              <a:solidFill>
                <a:srgbClr val="2F5497"/>
              </a:solidFill>
              <a:latin typeface="Bahnschrift Light Condensed" pitchFamily="34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1" i="0" u="none" strike="noStrike" kern="1200" cap="none" spc="0" baseline="0">
                <a:solidFill>
                  <a:srgbClr val="2F5497"/>
                </a:solidFill>
                <a:latin typeface="Bahnschrift Light Condensed" pitchFamily="34" charset="0"/>
                <a:ea typeface="等线" pitchFamily="0" charset="0"/>
                <a:cs typeface="Calibri" pitchFamily="0" charset="0"/>
              </a:rPr>
              <a:t>💰 Bill Splitting</a:t>
            </a:r>
            <a:endParaRPr lang="en-US" altLang="zh-CN" sz="1800" b="1" i="0" u="none" strike="noStrike" kern="1200" cap="none" spc="0" baseline="0">
              <a:solidFill>
                <a:srgbClr val="2F5497"/>
              </a:solidFill>
              <a:latin typeface="Bahnschrift Light Condensed" pitchFamily="34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2F5497"/>
                </a:solidFill>
                <a:latin typeface="Bahnschrift Light Condensed" pitchFamily="34" charset="0"/>
                <a:ea typeface="等线" pitchFamily="0" charset="0"/>
                <a:cs typeface="Calibri" pitchFamily="0" charset="0"/>
              </a:rPr>
              <a:t>Calculating and collecting each person's share can be confusing.</a:t>
            </a:r>
            <a:endParaRPr lang="en-US" altLang="zh-CN" sz="1800" b="1" i="0" u="none" strike="noStrike" kern="1200" cap="none" spc="0" baseline="0">
              <a:solidFill>
                <a:srgbClr val="2F5497"/>
              </a:solidFill>
              <a:latin typeface="Bahnschrift Light Condensed" pitchFamily="34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2F5497"/>
                </a:solidFill>
                <a:latin typeface="Bahnschrift Light Condensed" pitchFamily="34" charset="0"/>
                <a:ea typeface="等线" pitchFamily="0" charset="0"/>
                <a:cs typeface="Calibri" pitchFamily="0" charset="0"/>
              </a:rPr>
              <a:t>-------------------------------------------------------</a:t>
            </a:r>
            <a:endParaRPr lang="en-US" altLang="zh-CN" sz="1800" b="1" i="0" u="none" strike="noStrike" kern="1200" cap="none" spc="0" baseline="0">
              <a:solidFill>
                <a:srgbClr val="2F5497"/>
              </a:solidFill>
              <a:latin typeface="Bahnschrift Light Condensed" pitchFamily="34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1" i="0" u="none" strike="noStrike" kern="1200" cap="none" spc="0" baseline="0">
                <a:solidFill>
                  <a:srgbClr val="2F5497"/>
                </a:solidFill>
                <a:latin typeface="Bahnschrift Light Condensed" pitchFamily="34" charset="0"/>
                <a:ea typeface="等线" pitchFamily="0" charset="0"/>
                <a:cs typeface="Calibri" pitchFamily="0" charset="0"/>
              </a:rPr>
              <a:t>📱 Multiple Orders</a:t>
            </a:r>
            <a:endParaRPr lang="en-US" altLang="zh-CN" sz="1800" b="1" i="0" u="none" strike="noStrike" kern="1200" cap="none" spc="0" baseline="0">
              <a:solidFill>
                <a:srgbClr val="2F5497"/>
              </a:solidFill>
              <a:latin typeface="Bahnschrift Light Condensed" pitchFamily="34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2F5497"/>
                </a:solidFill>
                <a:latin typeface="Bahnschrift Light Condensed" pitchFamily="34" charset="0"/>
                <a:ea typeface="等线" pitchFamily="0" charset="0"/>
                <a:cs typeface="Calibri" pitchFamily="0" charset="0"/>
              </a:rPr>
              <a:t>Friends may place separate orders, making coordination difficult.</a:t>
            </a:r>
            <a:endParaRPr lang="en-US" altLang="zh-CN" sz="1800" b="1" i="0" u="none" strike="noStrike" kern="1200" cap="none" spc="0" baseline="0">
              <a:solidFill>
                <a:srgbClr val="2F5497"/>
              </a:solidFill>
              <a:latin typeface="Bahnschrift Light Condensed" pitchFamily="34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2F5497"/>
                </a:solidFill>
                <a:latin typeface="Bahnschrift Light Condensed" pitchFamily="34" charset="0"/>
                <a:ea typeface="等线" pitchFamily="0" charset="0"/>
                <a:cs typeface="Calibri" pitchFamily="0" charset="0"/>
              </a:rPr>
              <a:t>--------------------------------------------------------</a:t>
            </a:r>
            <a:endParaRPr lang="en-US" altLang="zh-CN" sz="1800" b="1" i="0" u="none" strike="noStrike" kern="1200" cap="none" spc="0" baseline="0">
              <a:solidFill>
                <a:srgbClr val="2F5497"/>
              </a:solidFill>
              <a:latin typeface="Bahnschrift Light Condensed" pitchFamily="34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2F5497"/>
                </a:solidFill>
                <a:latin typeface="Bahnschrift Light Condensed" pitchFamily="34" charset="0"/>
                <a:ea typeface="等线" pitchFamily="0" charset="0"/>
                <a:cs typeface="Calibri" pitchFamily="0" charset="0"/>
              </a:rPr>
              <a:t>⏳ Time Consuming</a:t>
            </a:r>
            <a:endParaRPr lang="en-US" altLang="zh-CN" sz="1800" b="1" i="0" u="none" strike="noStrike" kern="1200" cap="none" spc="0" baseline="0">
              <a:solidFill>
                <a:srgbClr val="2F5497"/>
              </a:solidFill>
              <a:latin typeface="Bahnschrift Light Condensed" pitchFamily="34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2F5497"/>
                </a:solidFill>
                <a:latin typeface="Bahnschrift Light Condensed" pitchFamily="34" charset="0"/>
                <a:ea typeface="等线" pitchFamily="0" charset="0"/>
                <a:cs typeface="Calibri" pitchFamily="0" charset="0"/>
              </a:rPr>
              <a:t>Managing everyone's choices and payments takes extra time.</a:t>
            </a:r>
            <a:endParaRPr lang="en-US" altLang="zh-CN" sz="1800" b="1" i="0" u="none" strike="noStrike" kern="1200" cap="none" spc="0" baseline="0">
              <a:solidFill>
                <a:srgbClr val="2F5497"/>
              </a:solidFill>
              <a:latin typeface="Bahnschrift Light Condensed" pitchFamily="34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2965194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-1"/>
            <a:ext cx="12286049" cy="6858000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39" name="图片"/>
          <p:cNvPicPr>
            <a:picLocks noChangeAspect="1"/>
          </p:cNvPicPr>
          <p:nvPr/>
        </p:nvPicPr>
        <p:blipFill>
          <a:blip r:embed="rId2" cstate="print"/>
          <a:srcRect t="12639" b="18333" l="46574"/>
          <a:stretch>
            <a:fillRect/>
          </a:stretch>
        </p:blipFill>
        <p:spPr>
          <a:xfrm rot="0">
            <a:off x="6696075" y="1062037"/>
            <a:ext cx="5495925" cy="4733925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40" name="图片"/>
          <p:cNvPicPr>
            <a:picLocks noChangeAspect="1"/>
          </p:cNvPicPr>
          <p:nvPr/>
        </p:nvPicPr>
        <p:blipFill>
          <a:blip r:embed="rId3" cstate="print"/>
          <a:srcRect b="85484" l="9537" r="9815"/>
          <a:stretch>
            <a:fillRect/>
          </a:stretch>
        </p:blipFill>
        <p:spPr>
          <a:xfrm rot="0">
            <a:off x="0" y="-19050"/>
            <a:ext cx="10344149" cy="1219200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41" name="图片"/>
          <p:cNvPicPr>
            <a:picLocks noChangeAspect="1"/>
          </p:cNvPicPr>
          <p:nvPr/>
        </p:nvPicPr>
        <p:blipFill>
          <a:blip r:embed="rId4" cstate="print"/>
          <a:srcRect t="82084" b="4028" l="5649" r="4444"/>
          <a:stretch>
            <a:fillRect/>
          </a:stretch>
        </p:blipFill>
        <p:spPr>
          <a:xfrm rot="0">
            <a:off x="0" y="5795962"/>
            <a:ext cx="11934825" cy="952500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42" name="图片"/>
          <p:cNvPicPr>
            <a:picLocks noChangeAspect="1"/>
          </p:cNvPicPr>
          <p:nvPr/>
        </p:nvPicPr>
        <p:blipFill>
          <a:blip r:embed="rId5" cstate="print"/>
          <a:srcRect t="39578" b="45545" l="57922" r="33283"/>
          <a:stretch>
            <a:fillRect/>
          </a:stretch>
        </p:blipFill>
        <p:spPr>
          <a:xfrm rot="0">
            <a:off x="263490" y="906682"/>
            <a:ext cx="904777" cy="1020278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43" name="图片"/>
          <p:cNvPicPr>
            <a:picLocks noChangeAspect="1"/>
          </p:cNvPicPr>
          <p:nvPr/>
        </p:nvPicPr>
        <p:blipFill>
          <a:blip r:embed="rId6" cstate="print"/>
          <a:srcRect t="30105" b="54877" l="3654" r="84744"/>
          <a:stretch>
            <a:fillRect/>
          </a:stretch>
        </p:blipFill>
        <p:spPr>
          <a:xfrm rot="0">
            <a:off x="0" y="1910340"/>
            <a:ext cx="1193533" cy="1029901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44" name="图片"/>
          <p:cNvPicPr>
            <a:picLocks noChangeAspect="1"/>
          </p:cNvPicPr>
          <p:nvPr/>
        </p:nvPicPr>
        <p:blipFill>
          <a:blip r:embed="rId7" cstate="print"/>
          <a:srcRect t="43790" b="41192" l="3466" r="84931"/>
          <a:stretch>
            <a:fillRect/>
          </a:stretch>
        </p:blipFill>
        <p:spPr>
          <a:xfrm rot="0">
            <a:off x="-28476" y="3853151"/>
            <a:ext cx="1193533" cy="1029901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45" name="图片"/>
          <p:cNvPicPr>
            <a:picLocks noChangeAspect="1"/>
          </p:cNvPicPr>
          <p:nvPr/>
        </p:nvPicPr>
        <p:blipFill>
          <a:blip r:embed="rId8" cstate="print"/>
          <a:srcRect t="75228" b="11298" l="57535" r="33547"/>
          <a:stretch>
            <a:fillRect/>
          </a:stretch>
        </p:blipFill>
        <p:spPr>
          <a:xfrm rot="0">
            <a:off x="102468" y="2883665"/>
            <a:ext cx="933652" cy="924024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46" name="图片"/>
          <p:cNvPicPr>
            <a:picLocks noChangeAspect="1"/>
          </p:cNvPicPr>
          <p:nvPr/>
        </p:nvPicPr>
        <p:blipFill>
          <a:blip r:embed="rId9" cstate="print"/>
          <a:srcRect t="66867" b="18133" l="4074" r="84279"/>
          <a:stretch>
            <a:fillRect/>
          </a:stretch>
        </p:blipFill>
        <p:spPr>
          <a:xfrm rot="0">
            <a:off x="274119" y="5053302"/>
            <a:ext cx="762001" cy="638175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47" name="矩形"/>
          <p:cNvSpPr>
            <a:spLocks/>
          </p:cNvSpPr>
          <p:nvPr/>
        </p:nvSpPr>
        <p:spPr>
          <a:xfrm rot="0">
            <a:off x="1072015" y="1062037"/>
            <a:ext cx="5853264" cy="51587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0" i="0" u="none" strike="noStrike" kern="1200" cap="none" spc="0" baseline="0">
                <a:solidFill>
                  <a:srgbClr val="385723"/>
                </a:solidFill>
                <a:latin typeface="Bahnschrift SemiCondensed" pitchFamily="34" charset="0"/>
                <a:ea typeface="等线" pitchFamily="0" charset="0"/>
                <a:cs typeface="Calibri" pitchFamily="0" charset="0"/>
              </a:rPr>
              <a:t>👥 Easy Group Ordering</a:t>
            </a:r>
            <a:endParaRPr lang="en-US" altLang="zh-CN" sz="1800" b="0" i="0" u="none" strike="noStrike" kern="1200" cap="none" spc="0" baseline="0">
              <a:solidFill>
                <a:srgbClr val="385723"/>
              </a:solidFill>
              <a:latin typeface="Bahnschrift SemiCondensed" pitchFamily="34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385723"/>
                </a:solidFill>
                <a:latin typeface="Bahnschrift SemiCondensed" pitchFamily="34" charset="0"/>
                <a:ea typeface="等线" pitchFamily="0" charset="0"/>
                <a:cs typeface="Calibri" pitchFamily="0" charset="0"/>
              </a:rPr>
              <a:t>Allow multiple people to add their food items to one group order.</a:t>
            </a:r>
            <a:endParaRPr lang="en-US" altLang="zh-CN" sz="1800" b="0" i="0" u="none" strike="noStrike" kern="1200" cap="none" spc="0" baseline="0">
              <a:solidFill>
                <a:srgbClr val="385723"/>
              </a:solidFill>
              <a:latin typeface="Bahnschrift SemiCondensed" pitchFamily="34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385723"/>
                </a:solidFill>
                <a:latin typeface="Bahnschrift SemiCondensed" pitchFamily="34" charset="0"/>
                <a:ea typeface="等线" pitchFamily="0" charset="0"/>
                <a:cs typeface="Calibri" pitchFamily="0" charset="0"/>
              </a:rPr>
              <a:t>-----------------------------------------------------------</a:t>
            </a:r>
            <a:endParaRPr lang="en-US" altLang="zh-CN" sz="1800" b="0" i="0" u="none" strike="noStrike" kern="1200" cap="none" spc="0" baseline="0">
              <a:solidFill>
                <a:srgbClr val="385723"/>
              </a:solidFill>
              <a:latin typeface="Bahnschrift SemiCondensed" pitchFamily="34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0" i="0" u="none" strike="noStrike" kern="1200" cap="none" spc="0" baseline="0">
                <a:solidFill>
                  <a:srgbClr val="385723"/>
                </a:solidFill>
                <a:latin typeface="Bahnschrift SemiCondensed" pitchFamily="34" charset="0"/>
                <a:ea typeface="等线" pitchFamily="0" charset="0"/>
                <a:cs typeface="Calibri" pitchFamily="0" charset="0"/>
              </a:rPr>
              <a:t>💰 Simple Bill Splitting</a:t>
            </a:r>
            <a:endParaRPr lang="en-US" altLang="zh-CN" sz="1800" b="0" i="0" u="none" strike="noStrike" kern="1200" cap="none" spc="0" baseline="0">
              <a:solidFill>
                <a:srgbClr val="385723"/>
              </a:solidFill>
              <a:latin typeface="Bahnschrift SemiCondensed" pitchFamily="34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385723"/>
                </a:solidFill>
                <a:latin typeface="Bahnschrift SemiCondensed" pitchFamily="34" charset="0"/>
                <a:ea typeface="等线" pitchFamily="0" charset="0"/>
                <a:cs typeface="Calibri" pitchFamily="0" charset="0"/>
              </a:rPr>
              <a:t>Make it easy to divide the total bill among group members.</a:t>
            </a:r>
            <a:endParaRPr lang="en-US" altLang="zh-CN" sz="1800" b="0" i="0" u="none" strike="noStrike" kern="1200" cap="none" spc="0" baseline="0">
              <a:solidFill>
                <a:srgbClr val="385723"/>
              </a:solidFill>
              <a:latin typeface="Bahnschrift SemiCondensed" pitchFamily="34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385723"/>
                </a:solidFill>
                <a:latin typeface="Bahnschrift SemiCondensed" pitchFamily="34" charset="0"/>
                <a:ea typeface="等线" pitchFamily="0" charset="0"/>
                <a:cs typeface="Calibri" pitchFamily="0" charset="0"/>
              </a:rPr>
              <a:t>-----------------------------------------------------------</a:t>
            </a:r>
            <a:endParaRPr lang="en-US" altLang="zh-CN" sz="1800" b="0" i="0" u="none" strike="noStrike" kern="1200" cap="none" spc="0" baseline="0">
              <a:solidFill>
                <a:srgbClr val="385723"/>
              </a:solidFill>
              <a:latin typeface="Bahnschrift SemiCondensed" pitchFamily="34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385723"/>
                </a:solidFill>
                <a:latin typeface="Bahnschrift SemiCondensed" pitchFamily="34" charset="0"/>
                <a:ea typeface="等线" pitchFamily="0" charset="0"/>
                <a:cs typeface="Calibri" pitchFamily="0" charset="0"/>
              </a:rPr>
              <a:t>⏱️ Save Time</a:t>
            </a:r>
            <a:endParaRPr lang="en-US" altLang="zh-CN" sz="1800" b="0" i="0" u="none" strike="noStrike" kern="1200" cap="none" spc="0" baseline="0">
              <a:solidFill>
                <a:srgbClr val="385723"/>
              </a:solidFill>
              <a:latin typeface="Bahnschrift SemiCondensed" pitchFamily="34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385723"/>
                </a:solidFill>
                <a:latin typeface="Bahnschrift SemiCondensed" pitchFamily="34" charset="0"/>
                <a:ea typeface="等线" pitchFamily="0" charset="0"/>
                <a:cs typeface="Calibri" pitchFamily="0" charset="0"/>
              </a:rPr>
              <a:t>Reduce the time spent coordinating food choices and payments.</a:t>
            </a:r>
            <a:endParaRPr lang="en-US" altLang="zh-CN" sz="1800" b="0" i="0" u="none" strike="noStrike" kern="1200" cap="none" spc="0" baseline="0">
              <a:solidFill>
                <a:srgbClr val="385723"/>
              </a:solidFill>
              <a:latin typeface="Bahnschrift SemiCondensed" pitchFamily="34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385723"/>
                </a:solidFill>
                <a:latin typeface="Bahnschrift SemiCondensed" pitchFamily="34" charset="0"/>
                <a:ea typeface="等线" pitchFamily="0" charset="0"/>
                <a:cs typeface="Calibri" pitchFamily="0" charset="0"/>
              </a:rPr>
              <a:t>-----------------------------------------------------------</a:t>
            </a:r>
            <a:endParaRPr lang="en-US" altLang="zh-CN" sz="1800" b="0" i="0" u="none" strike="noStrike" kern="1200" cap="none" spc="0" baseline="0">
              <a:solidFill>
                <a:srgbClr val="385723"/>
              </a:solidFill>
              <a:latin typeface="Bahnschrift SemiCondensed" pitchFamily="34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0" i="0" u="none" strike="noStrike" kern="1200" cap="none" spc="0" baseline="0">
                <a:solidFill>
                  <a:srgbClr val="385723"/>
                </a:solidFill>
                <a:latin typeface="Bahnschrift SemiCondensed" pitchFamily="34" charset="0"/>
                <a:ea typeface="等线" pitchFamily="0" charset="0"/>
                <a:cs typeface="Calibri" pitchFamily="0" charset="0"/>
              </a:rPr>
              <a:t>📱 Better User Experience</a:t>
            </a:r>
            <a:endParaRPr lang="en-US" altLang="zh-CN" sz="1800" b="0" i="0" u="none" strike="noStrike" kern="1200" cap="none" spc="0" baseline="0">
              <a:solidFill>
                <a:srgbClr val="385723"/>
              </a:solidFill>
              <a:latin typeface="Bahnschrift SemiCondensed" pitchFamily="34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385723"/>
                </a:solidFill>
                <a:latin typeface="Bahnschrift SemiCondensed" pitchFamily="34" charset="0"/>
                <a:ea typeface="等线" pitchFamily="0" charset="0"/>
                <a:cs typeface="Calibri" pitchFamily="0" charset="0"/>
              </a:rPr>
              <a:t>Provide a simple and convenient ordering experience for groups.</a:t>
            </a:r>
            <a:endParaRPr lang="en-US" altLang="zh-CN" sz="1800" b="0" i="0" u="none" strike="noStrike" kern="1200" cap="none" spc="0" baseline="0">
              <a:solidFill>
                <a:srgbClr val="385723"/>
              </a:solidFill>
              <a:latin typeface="Bahnschrift SemiCondensed" pitchFamily="34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385723"/>
                </a:solidFill>
                <a:latin typeface="Bahnschrift SemiCondensed" pitchFamily="34" charset="0"/>
                <a:ea typeface="等线" pitchFamily="0" charset="0"/>
                <a:cs typeface="Calibri" pitchFamily="0" charset="0"/>
              </a:rPr>
              <a:t>-----------------------------------------------------------</a:t>
            </a:r>
            <a:endParaRPr lang="en-US" altLang="zh-CN" sz="1800" b="0" i="0" u="none" strike="noStrike" kern="1200" cap="none" spc="0" baseline="0">
              <a:solidFill>
                <a:srgbClr val="385723"/>
              </a:solidFill>
              <a:latin typeface="Bahnschrift SemiCondensed" pitchFamily="34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0" i="0" u="none" strike="noStrike" kern="1200" cap="none" spc="0" baseline="0">
                <a:solidFill>
                  <a:srgbClr val="385723"/>
                </a:solidFill>
                <a:latin typeface="Bahnschrift SemiCondensed" pitchFamily="34" charset="0"/>
                <a:ea typeface="等线" pitchFamily="0" charset="0"/>
                <a:cs typeface="Calibri" pitchFamily="0" charset="0"/>
              </a:rPr>
              <a:t>🔒 Clear Payments</a:t>
            </a:r>
            <a:endParaRPr lang="en-US" altLang="zh-CN" sz="1800" b="0" i="0" u="none" strike="noStrike" kern="1200" cap="none" spc="0" baseline="0">
              <a:solidFill>
                <a:srgbClr val="385723"/>
              </a:solidFill>
              <a:latin typeface="Bahnschrift SemiCondensed" pitchFamily="34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385723"/>
                </a:solidFill>
                <a:latin typeface="Bahnschrift SemiCondensed" pitchFamily="34" charset="0"/>
                <a:ea typeface="等线" pitchFamily="0" charset="0"/>
                <a:cs typeface="Calibri" pitchFamily="0" charset="0"/>
              </a:rPr>
              <a:t>Show each member’s items and payment share clearly.</a:t>
            </a:r>
            <a:endParaRPr lang="en-US" altLang="zh-CN" sz="1800" b="0" i="0" u="none" strike="noStrike" kern="1200" cap="none" spc="0" baseline="0">
              <a:solidFill>
                <a:srgbClr val="385723"/>
              </a:solidFill>
              <a:latin typeface="Bahnschrift SemiCondensed" pitchFamily="34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6525150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0"/>
            <a:ext cx="12192000" cy="6858000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49" name="图片"/>
          <p:cNvPicPr>
            <a:picLocks noChangeAspect="1"/>
          </p:cNvPicPr>
          <p:nvPr/>
        </p:nvPicPr>
        <p:blipFill>
          <a:blip r:embed="rId2" cstate="print"/>
          <a:srcRect b="83611" l="9167" r="9537"/>
          <a:stretch>
            <a:fillRect/>
          </a:stretch>
        </p:blipFill>
        <p:spPr>
          <a:xfrm rot="0">
            <a:off x="0" y="0"/>
            <a:ext cx="10820400" cy="1123950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50" name="图片"/>
          <p:cNvPicPr>
            <a:picLocks noChangeAspect="1"/>
          </p:cNvPicPr>
          <p:nvPr/>
        </p:nvPicPr>
        <p:blipFill>
          <a:blip r:embed="rId3" cstate="print"/>
          <a:srcRect t="92917" l="-184"/>
          <a:stretch>
            <a:fillRect/>
          </a:stretch>
        </p:blipFill>
        <p:spPr>
          <a:xfrm rot="0">
            <a:off x="-1" y="6391275"/>
            <a:ext cx="12192002" cy="485773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51" name="图片"/>
          <p:cNvPicPr>
            <a:picLocks noChangeAspect="1"/>
          </p:cNvPicPr>
          <p:nvPr/>
        </p:nvPicPr>
        <p:blipFill>
          <a:blip r:embed="rId4" cstate="print"/>
          <a:srcRect t="16389" b="57222" l="-93" r="69537"/>
          <a:stretch>
            <a:fillRect/>
          </a:stretch>
        </p:blipFill>
        <p:spPr>
          <a:xfrm rot="0">
            <a:off x="942976" y="1123950"/>
            <a:ext cx="3143249" cy="1809750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52" name="图片"/>
          <p:cNvPicPr>
            <a:picLocks noChangeAspect="1"/>
          </p:cNvPicPr>
          <p:nvPr/>
        </p:nvPicPr>
        <p:blipFill>
          <a:blip r:embed="rId5" cstate="print"/>
          <a:srcRect t="40417" b="32222" l="-93" r="68704"/>
          <a:stretch>
            <a:fillRect/>
          </a:stretch>
        </p:blipFill>
        <p:spPr>
          <a:xfrm rot="0">
            <a:off x="900114" y="2900362"/>
            <a:ext cx="3228975" cy="1876426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53" name="图片"/>
          <p:cNvPicPr>
            <a:picLocks noChangeAspect="1"/>
          </p:cNvPicPr>
          <p:nvPr/>
        </p:nvPicPr>
        <p:blipFill>
          <a:blip r:embed="rId6" cstate="print"/>
          <a:srcRect t="66528" b="7082" l="-93" r="68704"/>
          <a:stretch>
            <a:fillRect/>
          </a:stretch>
        </p:blipFill>
        <p:spPr>
          <a:xfrm rot="0">
            <a:off x="857251" y="4581525"/>
            <a:ext cx="3228975" cy="1809750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54" name="图片"/>
          <p:cNvPicPr>
            <a:picLocks noChangeAspect="1"/>
          </p:cNvPicPr>
          <p:nvPr/>
        </p:nvPicPr>
        <p:blipFill>
          <a:blip r:embed="rId7" cstate="print"/>
          <a:srcRect t="16665" b="32223" l="48241" r="7131"/>
          <a:stretch>
            <a:fillRect/>
          </a:stretch>
        </p:blipFill>
        <p:spPr>
          <a:xfrm rot="0">
            <a:off x="7054713" y="1019173"/>
            <a:ext cx="5061088" cy="3505202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55" name="图片"/>
          <p:cNvPicPr>
            <a:picLocks noChangeAspect="1"/>
          </p:cNvPicPr>
          <p:nvPr/>
        </p:nvPicPr>
        <p:blipFill>
          <a:blip r:embed="rId8" cstate="print"/>
          <a:srcRect t="66528" b="7083" l="48241" r="1820"/>
          <a:stretch>
            <a:fillRect/>
          </a:stretch>
        </p:blipFill>
        <p:spPr>
          <a:xfrm rot="0">
            <a:off x="7054713" y="4581526"/>
            <a:ext cx="5137288" cy="1809749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56" name="矩形"/>
          <p:cNvSpPr>
            <a:spLocks/>
          </p:cNvSpPr>
          <p:nvPr/>
        </p:nvSpPr>
        <p:spPr>
          <a:xfrm rot="0">
            <a:off x="4086226" y="1323975"/>
            <a:ext cx="2968487" cy="46253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sng" strike="noStrike" kern="1200" cap="none" spc="0" baseline="0">
                <a:solidFill>
                  <a:srgbClr val="FF0000"/>
                </a:solidFill>
                <a:effectLst>
                  <a:outerShdw sx="100000" sy="100000" blurRad="38100" dir="2700000" dist="38100" algn="tl">
                    <a:srgbClr val="000000">
                      <a:alpha val="43000"/>
                    </a:srgbClr>
                  </a:outerShdw>
                </a:effectLst>
                <a:latin typeface="Calibri" pitchFamily="0" charset="0"/>
                <a:ea typeface="等线" pitchFamily="0" charset="0"/>
                <a:cs typeface="Calibri" pitchFamily="0" charset="0"/>
              </a:rPr>
              <a:t>Friends</a:t>
            </a:r>
            <a:endParaRPr lang="en-US" altLang="zh-CN" sz="1800" b="0" i="0" u="sng" strike="noStrike" kern="1200" cap="none" spc="0" baseline="0">
              <a:solidFill>
                <a:srgbClr val="FF0000"/>
              </a:solidFill>
              <a:effectLst>
                <a:outerShdw sx="100000" sy="100000" blurRad="38100" dir="2700000" dist="38100" algn="tl">
                  <a:srgbClr val="000000">
                    <a:alpha val="43000"/>
                  </a:srgbClr>
                </a:outerShdw>
              </a:effectLst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effectLst>
                  <a:outerShdw sx="100000" sy="100000" blurRad="38100" dir="2700000" dist="38100" algn="tl">
                    <a:srgbClr val="000000">
                      <a:alpha val="43000"/>
                    </a:srgbClr>
                  </a:outerShdw>
                </a:effectLst>
                <a:latin typeface="Calibri" pitchFamily="0" charset="0"/>
                <a:ea typeface="等线" pitchFamily="0" charset="0"/>
                <a:cs typeface="Calibri" pitchFamily="0" charset="0"/>
              </a:rPr>
              <a:t>Groups of friends who want to order food together and share the bill.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effectLst>
                <a:outerShdw sx="100000" sy="100000" blurRad="38100" dir="2700000" dist="38100" algn="tl">
                  <a:srgbClr val="000000">
                    <a:alpha val="43000"/>
                  </a:srgbClr>
                </a:outerShdw>
              </a:effectLst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effectLst>
                <a:outerShdw sx="100000" sy="100000" blurRad="38100" dir="2700000" dist="38100" algn="tl">
                  <a:srgbClr val="000000">
                    <a:alpha val="43000"/>
                  </a:srgbClr>
                </a:outerShdw>
              </a:effectLst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effectLst>
                  <a:outerShdw sx="100000" sy="100000" blurRad="38100" dir="2700000" dist="38100" algn="tl">
                    <a:srgbClr val="000000">
                      <a:alpha val="43000"/>
                    </a:srgbClr>
                  </a:outerShdw>
                </a:effectLst>
                <a:latin typeface="Calibri" pitchFamily="0" charset="0"/>
                <a:ea typeface="等线" pitchFamily="0" charset="0"/>
                <a:cs typeface="Calibri" pitchFamily="0" charset="0"/>
              </a:rPr>
              <a:t>---------------------------------------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effectLst>
                <a:outerShdw sx="100000" sy="100000" blurRad="38100" dir="2700000" dist="38100" algn="tl">
                  <a:srgbClr val="000000">
                    <a:alpha val="43000"/>
                  </a:srgbClr>
                </a:outerShdw>
              </a:effectLst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sng" strike="noStrike" kern="1200" cap="none" spc="0" baseline="0">
                <a:solidFill>
                  <a:srgbClr val="0070C0"/>
                </a:solidFill>
                <a:effectLst>
                  <a:outerShdw sx="100000" sy="100000" blurRad="38100" dir="2700000" dist="38100" algn="tl">
                    <a:srgbClr val="000000">
                      <a:alpha val="43000"/>
                    </a:srgbClr>
                  </a:outerShdw>
                </a:effectLst>
                <a:latin typeface="Calibri" pitchFamily="0" charset="0"/>
                <a:ea typeface="等线" pitchFamily="0" charset="0"/>
                <a:cs typeface="Calibri" pitchFamily="0" charset="0"/>
              </a:rPr>
              <a:t>Colleagues at Work</a:t>
            </a:r>
            <a:endParaRPr lang="en-US" altLang="zh-CN" sz="1800" b="0" i="0" u="sng" strike="noStrike" kern="1200" cap="none" spc="0" baseline="0">
              <a:solidFill>
                <a:srgbClr val="0070C0"/>
              </a:solidFill>
              <a:effectLst>
                <a:outerShdw sx="100000" sy="100000" blurRad="38100" dir="2700000" dist="38100" algn="tl">
                  <a:srgbClr val="000000">
                    <a:alpha val="43000"/>
                  </a:srgbClr>
                </a:outerShdw>
              </a:effectLst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effectLst>
                  <a:outerShdw sx="100000" sy="100000" blurRad="38100" dir="2700000" dist="38100" algn="tl">
                    <a:srgbClr val="000000">
                      <a:alpha val="43000"/>
                    </a:srgbClr>
                  </a:outerShdw>
                </a:effectLst>
                <a:latin typeface="Calibri" pitchFamily="0" charset="0"/>
                <a:ea typeface="等线" pitchFamily="0" charset="0"/>
                <a:cs typeface="Calibri" pitchFamily="0" charset="0"/>
              </a:rPr>
              <a:t>Officer teams who want to order  lunch together and split the payment easily</a:t>
            </a:r>
            <a:r>
              <a:rPr lang="en-US" altLang="zh-CN" sz="1800" b="0" i="0" u="none" strike="noStrike" kern="1200" cap="none" spc="0" baseline="0">
                <a:solidFill>
                  <a:srgbClr val="0070C0"/>
                </a:solidFill>
                <a:effectLst>
                  <a:outerShdw sx="100000" sy="100000" blurRad="38100" dir="2700000" dist="38100" algn="tl">
                    <a:srgbClr val="000000">
                      <a:alpha val="43000"/>
                    </a:srgbClr>
                  </a:outerShdw>
                </a:effectLst>
                <a:latin typeface="Calibri" pitchFamily="0" charset="0"/>
                <a:ea typeface="等线" pitchFamily="0" charset="0"/>
                <a:cs typeface="Calibri" pitchFamily="0" charset="0"/>
              </a:rPr>
              <a:t>.</a:t>
            </a:r>
            <a:endParaRPr lang="en-US" altLang="zh-CN" sz="1800" b="0" i="0" u="none" strike="noStrike" kern="1200" cap="none" spc="0" baseline="0">
              <a:solidFill>
                <a:srgbClr val="0070C0"/>
              </a:solidFill>
              <a:effectLst>
                <a:outerShdw sx="100000" sy="100000" blurRad="38100" dir="2700000" dist="38100" algn="tl">
                  <a:srgbClr val="000000">
                    <a:alpha val="43000"/>
                  </a:srgbClr>
                </a:outerShdw>
              </a:effectLst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rgbClr val="0070C0"/>
              </a:solidFill>
              <a:effectLst>
                <a:outerShdw sx="100000" sy="100000" blurRad="38100" dir="2700000" dist="38100" algn="tl">
                  <a:srgbClr val="000000">
                    <a:alpha val="43000"/>
                  </a:srgbClr>
                </a:outerShdw>
              </a:effectLst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effectLst>
                  <a:outerShdw sx="100000" sy="100000" blurRad="38100" dir="2700000" dist="38100" algn="tl">
                    <a:srgbClr val="000000">
                      <a:alpha val="43000"/>
                    </a:srgbClr>
                  </a:outerShdw>
                </a:effectLst>
                <a:latin typeface="Calibri" pitchFamily="0" charset="0"/>
                <a:ea typeface="等线" pitchFamily="0" charset="0"/>
                <a:cs typeface="Calibri" pitchFamily="0" charset="0"/>
              </a:rPr>
              <a:t>---------------------------------------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effectLst>
                <a:outerShdw sx="100000" sy="100000" blurRad="38100" dir="2700000" dist="38100" algn="tl">
                  <a:srgbClr val="000000">
                    <a:alpha val="43000"/>
                  </a:srgbClr>
                </a:outerShdw>
              </a:effectLst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 </a:t>
            </a:r>
            <a:r>
              <a:rPr lang="en-US" altLang="zh-CN" sz="1800" b="0" i="0" u="sng" strike="noStrike" kern="1200" cap="none" spc="0" baseline="0">
                <a:solidFill>
                  <a:srgbClr val="FF0000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Event Groups</a:t>
            </a:r>
            <a:endParaRPr lang="en-US" altLang="zh-CN" sz="1800" b="0" i="0" u="sng" strike="noStrike" kern="1200" cap="none" spc="0" baseline="0">
              <a:solidFill>
                <a:srgbClr val="FF0000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Groups ordering food for parties , celebrations or special occasions.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0" i="0" u="sng" strike="noStrike" kern="1200" cap="none" spc="0" baseline="0">
              <a:solidFill>
                <a:srgbClr val="FF0000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5116968"/>
      </p:ext>
    </p:extLst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0"/>
            <a:ext cx="12192000" cy="6858000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58" name="图片"/>
          <p:cNvPicPr>
            <a:picLocks noChangeAspect="1"/>
          </p:cNvPicPr>
          <p:nvPr/>
        </p:nvPicPr>
        <p:blipFill>
          <a:blip r:embed="rId2" cstate="print"/>
          <a:srcRect t="65833" r="186"/>
          <a:stretch>
            <a:fillRect/>
          </a:stretch>
        </p:blipFill>
        <p:spPr>
          <a:xfrm rot="0">
            <a:off x="0" y="4733924"/>
            <a:ext cx="12192000" cy="2143124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59" name="图片"/>
          <p:cNvPicPr>
            <a:picLocks noChangeAspect="1"/>
          </p:cNvPicPr>
          <p:nvPr/>
        </p:nvPicPr>
        <p:blipFill>
          <a:blip r:embed="rId3" cstate="print"/>
          <a:srcRect b="82778" l="8519" r="10278"/>
          <a:stretch>
            <a:fillRect/>
          </a:stretch>
        </p:blipFill>
        <p:spPr>
          <a:xfrm rot="0">
            <a:off x="0" y="0"/>
            <a:ext cx="10715626" cy="1181100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60" name="图片"/>
          <p:cNvPicPr>
            <a:picLocks noChangeAspect="1"/>
          </p:cNvPicPr>
          <p:nvPr/>
        </p:nvPicPr>
        <p:blipFill>
          <a:blip r:embed="rId4" cstate="print"/>
          <a:srcRect t="15698" b="56535" l="-3594" r="-31"/>
          <a:stretch>
            <a:fillRect/>
          </a:stretch>
        </p:blipFill>
        <p:spPr>
          <a:xfrm rot="0">
            <a:off x="-1" y="1200122"/>
            <a:ext cx="12192002" cy="1828856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61" name="矩形"/>
          <p:cNvSpPr>
            <a:spLocks/>
          </p:cNvSpPr>
          <p:nvPr/>
        </p:nvSpPr>
        <p:spPr>
          <a:xfrm rot="0">
            <a:off x="0" y="3048001"/>
            <a:ext cx="12249151" cy="147732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2F5497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 01) 🔍 User Research                 </a:t>
            </a:r>
            <a:r>
              <a:rPr lang="en-US" altLang="zh-CN" sz="1800" b="0" i="0" u="none" strike="noStrike" kern="1200" cap="none" spc="0" baseline="0">
                <a:solidFill>
                  <a:srgbClr val="00B050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02)📝 Identify User      </a:t>
            </a:r>
            <a:r>
              <a:rPr lang="en-US" altLang="zh-CN" sz="1800" b="0" i="0" u="none" strike="noStrike" kern="1200" cap="none" spc="0" baseline="0">
                <a:solidFill>
                  <a:srgbClr val="FF0000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03) 💡 Feature             </a:t>
            </a:r>
            <a:r>
              <a:rPr lang="en-US" altLang="zh-CN" sz="1800" b="0" i="0" u="none" strike="noStrike" kern="1200" cap="none" spc="0" baseline="0">
                <a:solidFill>
                  <a:srgbClr val="C55A1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04)👥 User Feedback    </a:t>
            </a:r>
            <a:r>
              <a:rPr lang="en-US" altLang="zh-CN" sz="1800" b="0" i="0" u="none" strike="noStrike" kern="1200" cap="none" spc="0" baseline="0">
                <a:solidFill>
                  <a:srgbClr val="0070C0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05)📋 Requirements                                     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Understand how people              Find Problems related    planning define how    Collect basic feedback    </a:t>
            </a:r>
            <a:r>
              <a:rPr lang="en-US" altLang="zh-CN" sz="1800" b="0" i="0" u="none" strike="noStrike" kern="1200" cap="none" spc="0" baseline="0">
                <a:solidFill>
                  <a:srgbClr val="0070C0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Finalization-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 finalize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Currently order food in                to food choices,               Group order &amp; split       from potential users.     The important feature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Groups.                                            Coordination and             payment will work.                                                 For development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                                                                 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3861469"/>
      </p:ext>
    </p:extLst>
  </p:cSld>
  <p:clrMapOvr>
    <a:masterClrMapping/>
  </p:clrMapOvr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28574" y="0"/>
            <a:ext cx="12192000" cy="6858000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63" name="图片"/>
          <p:cNvPicPr>
            <a:picLocks noChangeAspect="1"/>
          </p:cNvPicPr>
          <p:nvPr/>
        </p:nvPicPr>
        <p:blipFill>
          <a:blip r:embed="rId2" cstate="print"/>
          <a:srcRect b="88334" l="9814" r="7870"/>
          <a:stretch>
            <a:fillRect/>
          </a:stretch>
        </p:blipFill>
        <p:spPr>
          <a:xfrm rot="0">
            <a:off x="0" y="0"/>
            <a:ext cx="10677525" cy="800100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64" name="图片"/>
          <p:cNvPicPr>
            <a:picLocks noChangeAspect="1"/>
          </p:cNvPicPr>
          <p:nvPr/>
        </p:nvPicPr>
        <p:blipFill>
          <a:blip r:embed="rId3" cstate="print"/>
          <a:srcRect t="69028" l="-277" r="-1"/>
          <a:stretch>
            <a:fillRect/>
          </a:stretch>
        </p:blipFill>
        <p:spPr>
          <a:xfrm rot="0">
            <a:off x="1" y="4762500"/>
            <a:ext cx="12192000" cy="2124075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65" name="图片"/>
          <p:cNvPicPr>
            <a:picLocks noChangeAspect="1"/>
          </p:cNvPicPr>
          <p:nvPr/>
        </p:nvPicPr>
        <p:blipFill>
          <a:blip r:embed="rId4" cstate="print"/>
          <a:srcRect t="13889" b="29166" l="1" r="185"/>
          <a:stretch>
            <a:fillRect/>
          </a:stretch>
        </p:blipFill>
        <p:spPr>
          <a:xfrm rot="0">
            <a:off x="28575" y="1095374"/>
            <a:ext cx="12058650" cy="3762375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396925955"/>
      </p:ext>
    </p:extLst>
  </p:cSld>
  <p:clrMapOvr>
    <a:masterClrMapping/>
  </p:clrMapOvr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0"/>
            <a:ext cx="12192000" cy="6858000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67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0" y="0"/>
            <a:ext cx="12192000" cy="6858000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68" name="图片"/>
          <p:cNvPicPr>
            <a:picLocks noChangeAspect="1"/>
          </p:cNvPicPr>
          <p:nvPr/>
        </p:nvPicPr>
        <p:blipFill>
          <a:blip r:embed="rId3" cstate="print"/>
          <a:srcRect t="-1" b="90834" l="9167" r="10556"/>
          <a:stretch>
            <a:fillRect/>
          </a:stretch>
        </p:blipFill>
        <p:spPr>
          <a:xfrm rot="0">
            <a:off x="0" y="1"/>
            <a:ext cx="10697716" cy="1076324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273857578"/>
      </p:ext>
    </p:extLst>
  </p:cSld>
  <p:clrMapOvr>
    <a:masterClrMapping/>
  </p:clrMapOvr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0"/>
            <a:ext cx="12192000" cy="6858000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70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0" y="0"/>
            <a:ext cx="12192000" cy="6858000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71" name="图片"/>
          <p:cNvPicPr>
            <a:picLocks noChangeAspect="1"/>
          </p:cNvPicPr>
          <p:nvPr/>
        </p:nvPicPr>
        <p:blipFill>
          <a:blip r:embed="rId3" cstate="print"/>
          <a:srcRect b="89305" l="11018" r="8981"/>
          <a:stretch>
            <a:fillRect/>
          </a:stretch>
        </p:blipFill>
        <p:spPr>
          <a:xfrm rot="0">
            <a:off x="0" y="0"/>
            <a:ext cx="11058525" cy="847725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35084482"/>
      </p:ext>
    </p:extLst>
  </p:cSld>
  <p:clrMapOvr>
    <a:masterClrMapping/>
  </p:clrMapOvr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0"/>
            <a:ext cx="12192000" cy="685800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73" name="矩形"/>
          <p:cNvSpPr>
            <a:spLocks/>
          </p:cNvSpPr>
          <p:nvPr/>
        </p:nvSpPr>
        <p:spPr>
          <a:xfrm rot="0">
            <a:off x="2133600" y="1828800"/>
            <a:ext cx="6219825" cy="120032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200" b="0" i="0" u="none" strike="noStrike" kern="1200" cap="none" spc="0" baseline="0">
                <a:solidFill>
                  <a:srgbClr val="C09200"/>
                </a:solidFill>
                <a:latin typeface="Arial Black" pitchFamily="34" charset="0"/>
                <a:ea typeface="等线" pitchFamily="0" charset="0"/>
                <a:cs typeface="Calibri" pitchFamily="0" charset="0"/>
              </a:rPr>
              <a:t>Thank you.</a:t>
            </a:r>
            <a:endParaRPr lang="zh-CN" altLang="en-US" sz="7200" b="0" i="0" u="none" strike="noStrike" kern="1200" cap="none" spc="0" baseline="0">
              <a:solidFill>
                <a:srgbClr val="C09200"/>
              </a:solidFill>
              <a:latin typeface="Arial Black" pitchFamily="34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8047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120</TotalTime>
  <Application>Yozo_Office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PowerPoint Presentation</dc:title>
  <dc:creator>Shree</dc:creator>
  <cp:lastModifiedBy>root</cp:lastModifiedBy>
  <cp:revision>15</cp:revision>
  <dcterms:created xsi:type="dcterms:W3CDTF">2026-08-17T08:28:17Z</dcterms:created>
  <dcterms:modified xsi:type="dcterms:W3CDTF">2026-08-18T22:33:50Z</dcterms:modified>
</cp:coreProperties>
</file>